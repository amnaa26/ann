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E1C0E"/>
          </a:solidFill>
          <a:ln w="12700">
            <a:solidFill>
              <a:srgbClr val="2E1C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70448" y="0"/>
            <a:ext cx="7315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1645920" cy="1645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2560320"/>
            <a:ext cx="1097280" cy="1097280"/>
          </a:xfrm>
          <a:prstGeom prst="ellipse">
            <a:avLst/>
          </a:prstGeom>
          <a:solidFill>
            <a:srgbClr val="F4A261">
              <a:alpha val="12000"/>
            </a:srgbClr>
          </a:solidFill>
          <a:ln w="12700">
            <a:solidFill>
              <a:srgbClr val="F4A261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474720"/>
            <a:ext cx="640080" cy="640080"/>
          </a:xfrm>
          <a:prstGeom prst="ellipse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89320" y="274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COURSE PROJECT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9144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&amp;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Deepfake / Synthetic Speech Detection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2286000" cy="36576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07B39">
              <a:alpha val="25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0" y="30175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F2C14E">
              <a:alpha val="25000"/>
            </a:srgbClr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9456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3017520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A8C97F">
              <a:alpha val="25000"/>
            </a:srgbClr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0156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C94040">
              <a:alpha val="25000"/>
            </a:srgbClr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194560" y="340156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E07B39">
              <a:alpha val="25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1920" y="340156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F2C14E">
              <a:alpha val="25000"/>
            </a:srgbClr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0" y="34015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1C0E"/>
          </a:solidFill>
          <a:ln w="12700">
            <a:solidFill>
              <a:srgbClr val="2E1C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Course Project  ·  Voice Deepfake / Synthetic Speech Detection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challenge before choosing loss functions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35661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265176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audio samples as REAL (human speech) or FAKE (AI-generated / deepfake). This is a Binary Classification problem.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72968" y="1005840"/>
            <a:ext cx="2651760" cy="35661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1005840"/>
            <a:ext cx="265176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10128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HARD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10128" y="202996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TTS and voice cloning systems produce near-human audio. Datasets are often imbalanced — fake samples can outnumber real ones.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25896" y="1005840"/>
            <a:ext cx="2651760" cy="35661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25896" y="1005840"/>
            <a:ext cx="2651760" cy="4572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63056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ANN APPROACH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3056" y="2029968"/>
            <a:ext cx="2377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 model trained on audio features (MFCC, spectrograms) outputs a probability score: closer to 1 = fake, closer to 0 = real.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1C0E"/>
          </a:solidFill>
          <a:ln w="12700">
            <a:solidFill>
              <a:srgbClr val="2E1C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Course Project  ·  Voice Deepfake Detection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1 – Binary Cross-Entropy (BCE)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choice for binary classification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06640" y="2286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007"/>
                </a:solidFill>
              </a:rPr>
              <a:t>PRIMARY CHOICE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850392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L(y, ŷ) = −[ y · log(ŷ) + (1 − y) · log(1 − ŷ) 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true label (0=real, 1=fake)     ŷ = predicted probability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4114800" cy="260604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920240"/>
            <a:ext cx="4114800" cy="4572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ADVANTAGES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3317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binary output (real vs fake)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probabilities — easy to threshold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Smooth, differentiable — works well with backprop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penalizes confident wrong predictions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— widely implemented in PyTorch &amp; TF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920240"/>
            <a:ext cx="4114800" cy="260604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920240"/>
            <a:ext cx="4114800" cy="4572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LIMITATIONS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33172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class imbalance (fake &gt;&gt; real or vice versa)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independence between samples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saturate gradients for very confident predictions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/ mislabeled samples can distort training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617720"/>
            <a:ext cx="8503920" cy="246888"/>
          </a:xfrm>
          <a:prstGeom prst="rect">
            <a:avLst/>
          </a:prstGeom>
          <a:solidFill>
            <a:srgbClr val="2E1C0E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1772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Primary training loss for the deepfake binary classifier. Directly optimizes log-probability of correct class.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2 – Weighted Binary Cross-Entropy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Correcting for class imbalance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06640" y="2286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007"/>
                </a:solidFill>
              </a:rPr>
              <a:t>IMBALANCE FIX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8229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850392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24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C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−[ w₁ · y · log(ŷ) + w₀ · (1 − y) · log(1 − ŷ) ]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 = weight for fake class    w₀ = weight for real class    (typically w = N_total / (2 × N_class))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4069080" cy="28803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74520"/>
            <a:ext cx="406908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65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37490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datasets are often skewed — more fake than real or vice versa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BCE ignores this imbalance and biases toward the majority class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force the model to pay equal attention to both classes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ASVspoof challenges where data is inherently imbalanced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874520"/>
            <a:ext cx="4160520" cy="28803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874520"/>
            <a:ext cx="416052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965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WEIGHTS (PYTORCH)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286000"/>
            <a:ext cx="3886200" cy="2331720"/>
          </a:xfrm>
          <a:prstGeom prst="rect">
            <a:avLst/>
          </a:prstGeom>
          <a:solidFill>
            <a:srgbClr val="0A1520"/>
          </a:solidFill>
          <a:ln w="12700">
            <a:solidFill>
              <a:srgbClr val="3D251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377440"/>
            <a:ext cx="3703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pos_weight = torch.tensor(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[n_real / n_fake]  # e.g. 3.0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loss_fn = nn.BCEWithLogitsLoss(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pos_weight=pos_weight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828032"/>
            <a:ext cx="8503920" cy="210312"/>
          </a:xfrm>
          <a:prstGeom prst="rect">
            <a:avLst/>
          </a:prstGeom>
          <a:solidFill>
            <a:srgbClr val="2E1C0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8032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Requires prior knowledge of class distribution. Weights must be tuned carefully.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3 – Focal Loss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Emphasizing hard-to-classify examples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2286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007"/>
                </a:solidFill>
              </a:rPr>
              <a:t>HARD EXAMPLE FOCUS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8503920" cy="4572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8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FL(y, ŷ) = −α · (1 − ŷ_t)^γ · log(ŷ_t)     where ŷ_t = ŷ if y=1, else (1−ŷ)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(gamma) = focusing parameter  ·  α (alpha) = class balancing weight  ·  When γ=0, Focal Loss = BCE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2651760" cy="283464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74520"/>
            <a:ext cx="265176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65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402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easy (well-classified) examples and focuses training on hard, misclassified ones. The (1−ŷ_t)^γ factor reduces loss for easy examples automatically.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1874520"/>
            <a:ext cx="2606040" cy="283464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874520"/>
            <a:ext cx="2606040" cy="4572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1965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γ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224028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γ=0  → Standard BCE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γ=1  → Mild focus on hard examples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γ=2  → Strong focus (default, recommended)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γ&gt;5  → Only hardest examples matter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874520"/>
            <a:ext cx="2743200" cy="283464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874520"/>
            <a:ext cx="274320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965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 DEEPFAKES?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17920" y="224028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fake audio is very easy to spot; some is nearly indistinguishable.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forces the model to learn from the hard-to-detect deepfakes.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designed for object detection; increasingly adopted in audio &amp; speech anti-spoofing tasks.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E1C0E"/>
          </a:solidFill>
          <a:ln w="12700">
            <a:solidFill>
              <a:srgbClr val="2E1C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Course Project  ·  Voice Deepfake Detection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4 – Hinge Loss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Margin-maximizing, SVM-inspired approach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0" y="2286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007"/>
                </a:solidFill>
              </a:rPr>
              <a:t>SVM-STYLE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749808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8503920" cy="4572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L(y, ŷ) = max(0, 1 − y · f(x))     where y ∈ {−1, +1}  and f(x) = raw model output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14447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the task to a margin-based boundary — encourages a wide separation between classes in feature space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4114800" cy="29718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28800"/>
            <a:ext cx="4114800" cy="4572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12848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&amp; confident → loss = 0 (no penalty)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but uncertain → small positive loss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prediction → loss &gt; 1 (penalized heavily)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margin-maximizing decision boundary (like SVM)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+1/−1 labels instead of 0/1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4114800" cy="29718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828800"/>
            <a:ext cx="411480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9202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3840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Maximizes decision margin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Robust to some misclassification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Good when classes are linearly separable in feature 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Non-differentiable at decision boundary (hinge point)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Does not output probabilities directly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Less common in deep learning vs BCE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4864608"/>
            <a:ext cx="8503920" cy="228600"/>
          </a:xfrm>
          <a:prstGeom prst="rect">
            <a:avLst/>
          </a:prstGeom>
          <a:solidFill>
            <a:srgbClr val="2E1C0E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Alternative when learning a maximum-margin boundary between real and fake speech features.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– Side-by-Side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loss for your scenario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347472"/>
          </a:xfrm>
          <a:prstGeom prst="rect">
            <a:avLst/>
          </a:prstGeom>
          <a:solidFill>
            <a:srgbClr val="2E1C0E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875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30552" y="9875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Imbalance?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39312" y="9875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Probability?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10912" y="987552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Behavior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28232" y="987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8503920" cy="5943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89888"/>
            <a:ext cx="64008" cy="5943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3560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143560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(baseline)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4356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1435608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1435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binary classification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048256"/>
            <a:ext cx="850392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3D251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048256"/>
            <a:ext cx="64008" cy="59436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93976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209397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209397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09397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+ adjusted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09397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fake/real datasets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706624"/>
            <a:ext cx="8503920" cy="5943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706624"/>
            <a:ext cx="64008" cy="59436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752344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48840" y="275234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✔✔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275234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75234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Down-weights easy samples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27523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Hard-to-detect deepfakes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364992"/>
            <a:ext cx="8503920" cy="594360"/>
          </a:xfrm>
          <a:prstGeom prst="rect">
            <a:avLst/>
          </a:prstGeom>
          <a:solidFill>
            <a:srgbClr val="162536"/>
          </a:solidFill>
          <a:ln w="12700">
            <a:solidFill>
              <a:srgbClr val="3D25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364992"/>
            <a:ext cx="64008" cy="59436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410712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Loss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48840" y="34107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341071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(scores)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0" y="34107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Non-smooth at boundary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34107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 feature separation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096512"/>
            <a:ext cx="8503920" cy="685800"/>
          </a:xfrm>
          <a:prstGeom prst="rect">
            <a:avLst/>
          </a:prstGeom>
          <a:solidFill>
            <a:srgbClr val="2E1C0E"/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096512"/>
            <a:ext cx="64008" cy="68580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1330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Recommended Strategy: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" y="4407408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Binary Cross-Entropy as the baseline. If the dataset is imbalanced, switch to Weighted BCE or Focal Loss (γ=2). Focal Loss is the most powerful choice for challenging deepfake detection.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Recommended Choice – Why BCE &amp; Focal Loss?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that drive our decision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98080" y="2286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007"/>
                </a:solidFill>
              </a:rPr>
              <a:t>OUR PICK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1115568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850392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43000"/>
            <a:ext cx="685800" cy="685800"/>
          </a:xfrm>
          <a:prstGeom prst="ellipse">
            <a:avLst/>
          </a:prstGeom>
          <a:solidFill>
            <a:srgbClr val="E07B39">
              <a:alpha val="80000"/>
            </a:srgbClr>
          </a:solidFill>
          <a:ln w="1905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09728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is Binary Classification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1417320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exactly two classes: REAL (0) and FAKE (1). BCE is the mathematically correct loss for any binary probability output — it minimizes the negative log-likelihood of the correct label.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8503920" cy="1115568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40280"/>
            <a:ext cx="850392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77440"/>
            <a:ext cx="685800" cy="685800"/>
          </a:xfrm>
          <a:prstGeom prst="ellipse">
            <a:avLst/>
          </a:prstGeom>
          <a:solidFill>
            <a:srgbClr val="F2C14E">
              <a:alpha val="80000"/>
            </a:srgbClr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77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33172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Datasets are Imbalanced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651760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ASVspoof 2019/2021 — the benchmark datasets — contain far more fake utterances than real ones. BCE alone would bias toward the majority class. Focal Loss addresses this automatically.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74720"/>
            <a:ext cx="8503920" cy="1115568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74720"/>
            <a:ext cx="8503920" cy="4572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11880"/>
            <a:ext cx="685800" cy="685800"/>
          </a:xfrm>
          <a:prstGeom prst="ellipse">
            <a:avLst/>
          </a:prstGeom>
          <a:solidFill>
            <a:srgbClr val="A8C97F">
              <a:alpha val="80000"/>
            </a:srgbClr>
          </a:solidFill>
          <a:ln w="19050">
            <a:solidFill>
              <a:srgbClr val="A8C9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11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566160"/>
            <a:ext cx="7269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Targets Hard Fakes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886200"/>
            <a:ext cx="7269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deepfakes are indistinguishable from human speech. Focal Loss (γ=2) increases the gradient contribution of these hard examples, forcing the ANN to get better at exactly the cases that matter most.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727448"/>
            <a:ext cx="8503920" cy="292608"/>
          </a:xfrm>
          <a:prstGeom prst="rect">
            <a:avLst/>
          </a:prstGeom>
          <a:solidFill>
            <a:srgbClr val="0A1520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27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7B3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Implementation: Train first with BCE → evaluate → if EER/F1 is poor due to imbalance → switch to Focal Loss with α=0.25, γ=2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–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training signal to real-world performance measurement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guide training.  Metrics tell us how well the model actually works on new data.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53312"/>
            <a:ext cx="2651760" cy="15087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53312"/>
            <a:ext cx="265176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536192"/>
            <a:ext cx="457200" cy="457200"/>
          </a:xfrm>
          <a:prstGeom prst="ellipse">
            <a:avLst/>
          </a:prstGeom>
          <a:solidFill>
            <a:srgbClr val="E07B39">
              <a:alpha val="25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B39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3272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" y="206654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all samples correctly classified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1353312"/>
            <a:ext cx="2651760" cy="15087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1353312"/>
            <a:ext cx="265176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536192"/>
            <a:ext cx="457200" cy="457200"/>
          </a:xfrm>
          <a:prstGeom prst="ellipse">
            <a:avLst/>
          </a:prstGeom>
          <a:solidFill>
            <a:srgbClr val="F2C14E">
              <a:alpha val="25000"/>
            </a:srgbClr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14E"/>
                </a:solidFill>
              </a:rPr>
              <a:t>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86200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06654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predicted fake — how many truly are?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25896" y="1353312"/>
            <a:ext cx="2651760" cy="15087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353312"/>
            <a:ext cx="2651760" cy="4572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0488" y="1536192"/>
            <a:ext cx="457200" cy="457200"/>
          </a:xfrm>
          <a:prstGeom prst="ellipse">
            <a:avLst/>
          </a:prstGeom>
          <a:solidFill>
            <a:srgbClr val="A8C97F">
              <a:alpha val="25000"/>
            </a:srgbClr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048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C97F"/>
                </a:solidFill>
              </a:rPr>
              <a:t>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39128" y="15544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206654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real fakes — how many did we catch?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044952"/>
            <a:ext cx="2651760" cy="15087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044952"/>
            <a:ext cx="265176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" y="3227832"/>
            <a:ext cx="457200" cy="457200"/>
          </a:xfrm>
          <a:prstGeom prst="ellipse">
            <a:avLst/>
          </a:prstGeom>
          <a:solidFill>
            <a:srgbClr val="E07B39">
              <a:alpha val="25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7B39"/>
                </a:solidFill>
              </a:rPr>
              <a:t>F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33272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" y="375818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72968" y="3044952"/>
            <a:ext cx="2651760" cy="15087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72968" y="3044952"/>
            <a:ext cx="265176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7560" y="3227832"/>
            <a:ext cx="457200" cy="457200"/>
          </a:xfrm>
          <a:prstGeom prst="ellipse">
            <a:avLst/>
          </a:prstGeom>
          <a:solidFill>
            <a:srgbClr val="F2C14E">
              <a:alpha val="25000"/>
            </a:srgbClr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7560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14E"/>
                </a:solidFill>
              </a:rPr>
              <a:t>⌒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886200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337560" y="375818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 curve (threshold-independent)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25896" y="3044952"/>
            <a:ext cx="2651760" cy="15087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25896" y="3044952"/>
            <a:ext cx="2651760" cy="4572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0488" y="3227832"/>
            <a:ext cx="457200" cy="457200"/>
          </a:xfrm>
          <a:prstGeom prst="ellipse">
            <a:avLst/>
          </a:prstGeom>
          <a:solidFill>
            <a:srgbClr val="C94040">
              <a:alpha val="25000"/>
            </a:srgbClr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9048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4040"/>
                </a:solidFill>
              </a:rPr>
              <a:t>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39128" y="32461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190488" y="375818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deepfake / speaker verification metric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– Accuracy, Precision, Recall &amp; F1-Score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classification metrics and the confusion matrix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200400" cy="384048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320040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234440" cy="1188720"/>
          </a:xfrm>
          <a:prstGeom prst="rect">
            <a:avLst/>
          </a:prstGeom>
          <a:solidFill>
            <a:srgbClr val="A8C97F">
              <a:alpha val="20000"/>
            </a:srgbClr>
          </a:solidFill>
          <a:ln w="19050">
            <a:solidFill>
              <a:srgbClr val="A8C9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→ Fake ✔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1417320"/>
            <a:ext cx="1234440" cy="1188720"/>
          </a:xfrm>
          <a:prstGeom prst="rect">
            <a:avLst/>
          </a:prstGeom>
          <a:solidFill>
            <a:srgbClr val="C94040">
              <a:alpha val="20000"/>
            </a:srgbClr>
          </a:solidFill>
          <a:ln w="19050">
            <a:solidFill>
              <a:srgbClr val="C9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5544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20574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→ Real ✘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234440" cy="1188720"/>
          </a:xfrm>
          <a:prstGeom prst="rect">
            <a:avLst/>
          </a:prstGeom>
          <a:solidFill>
            <a:srgbClr val="F2C14E">
              <a:alpha val="20000"/>
            </a:srgbClr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26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→ Fake ✘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28800" y="2788920"/>
            <a:ext cx="1234440" cy="1188720"/>
          </a:xfrm>
          <a:prstGeom prst="rect">
            <a:avLst/>
          </a:prstGeom>
          <a:solidFill>
            <a:srgbClr val="A8C97F">
              <a:alpha val="20000"/>
            </a:srgbClr>
          </a:solidFill>
          <a:ln w="19050">
            <a:solidFill>
              <a:srgbClr val="A8C97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2926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828800" y="342900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→ Real ✔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 rot="16200000">
            <a:off x="320040" y="1417320"/>
            <a:ext cx="182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03320" y="960120"/>
            <a:ext cx="5120640" cy="8229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960120"/>
            <a:ext cx="512064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1033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40480" y="12344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(TP + TN) / Total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150876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can be misleading with imbalanced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03320" y="1901952"/>
            <a:ext cx="5120640" cy="8229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03320" y="1901952"/>
            <a:ext cx="512064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1975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0" y="217627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FP)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0" y="2450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trustworthy are our fake predictions?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03320" y="2843784"/>
            <a:ext cx="5120640" cy="8229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03320" y="2843784"/>
            <a:ext cx="5120640" cy="4572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0" y="29169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840480" y="3118104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 / (TP + FN)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0" y="33924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catch all the fakes? (important!)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03320" y="3785616"/>
            <a:ext cx="5120640" cy="8229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703320" y="3785616"/>
            <a:ext cx="5120640" cy="4572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3858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40480" y="40599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(P · R) / (P + R)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840480" y="433425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metric when classes are imbalanced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solidFill>
            <a:srgbClr val="2E1C0E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28032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deepfake detection: Recall is critical — missing a fake (FN) is worse than a false alarm (FP).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– AUC-ROC (Area Under the ROC Curve)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model comparison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023360" cy="393192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402336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(CONCEPTUAL)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85800" y="4389120"/>
            <a:ext cx="3200400" cy="0"/>
          </a:xfrm>
          <a:prstGeom prst="line">
            <a:avLst/>
          </a:prstGeom>
          <a:noFill/>
          <a:ln w="19050">
            <a:solidFill>
              <a:srgbClr val="A080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17320"/>
            <a:ext cx="0" cy="2971800"/>
          </a:xfrm>
          <a:prstGeom prst="line">
            <a:avLst/>
          </a:prstGeom>
          <a:noFill/>
          <a:ln w="19050">
            <a:solidFill>
              <a:srgbClr val="A08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389120"/>
            <a:ext cx="3200400" cy="-2971800"/>
          </a:xfrm>
          <a:prstGeom prst="line">
            <a:avLst/>
          </a:prstGeom>
          <a:noFill/>
          <a:ln w="12700">
            <a:solidFill>
              <a:srgbClr val="A0806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606040" y="30175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4389120"/>
            <a:ext cx="320040" cy="-118872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3200400"/>
            <a:ext cx="365760" cy="-91440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286000"/>
            <a:ext cx="548640" cy="-45720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20240" y="1828800"/>
            <a:ext cx="822960" cy="-22860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00200"/>
            <a:ext cx="1143000" cy="-182880"/>
          </a:xfrm>
          <a:prstGeom prst="line">
            <a:avLst/>
          </a:prstGeom>
          <a:noFill/>
          <a:ln w="31750">
            <a:solidFill>
              <a:srgbClr val="E07B3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794760"/>
            <a:ext cx="320040" cy="594360"/>
          </a:xfrm>
          <a:prstGeom prst="rect">
            <a:avLst/>
          </a:prstGeom>
          <a:solidFill>
            <a:srgbClr val="E07B39">
              <a:alpha val="15000"/>
            </a:srgbClr>
          </a:solidFill>
          <a:ln w="1270">
            <a:solidFill>
              <a:srgbClr val="E07B39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" y="2743200"/>
            <a:ext cx="365760" cy="1645920"/>
          </a:xfrm>
          <a:prstGeom prst="rect">
            <a:avLst/>
          </a:prstGeom>
          <a:solidFill>
            <a:srgbClr val="E07B39">
              <a:alpha val="15000"/>
            </a:srgbClr>
          </a:solidFill>
          <a:ln w="1270">
            <a:solidFill>
              <a:srgbClr val="E07B39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2057400"/>
            <a:ext cx="548640" cy="2331720"/>
          </a:xfrm>
          <a:prstGeom prst="rect">
            <a:avLst/>
          </a:prstGeom>
          <a:solidFill>
            <a:srgbClr val="E07B39">
              <a:alpha val="15000"/>
            </a:srgbClr>
          </a:solidFill>
          <a:ln w="1270">
            <a:solidFill>
              <a:srgbClr val="E07B39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20240" y="1714500"/>
            <a:ext cx="822960" cy="2674620"/>
          </a:xfrm>
          <a:prstGeom prst="rect">
            <a:avLst/>
          </a:prstGeom>
          <a:solidFill>
            <a:srgbClr val="E07B39">
              <a:alpha val="15000"/>
            </a:srgbClr>
          </a:solidFill>
          <a:ln w="1270">
            <a:solidFill>
              <a:srgbClr val="E07B39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1508760"/>
            <a:ext cx="1143000" cy="2880360"/>
          </a:xfrm>
          <a:prstGeom prst="rect">
            <a:avLst/>
          </a:prstGeom>
          <a:solidFill>
            <a:srgbClr val="E07B39">
              <a:alpha val="15000"/>
            </a:srgbClr>
          </a:solidFill>
          <a:ln w="1270">
            <a:solidFill>
              <a:srgbClr val="E07B39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45920" y="3474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448056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→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7472" y="141732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TPR ↑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17720" y="960120"/>
            <a:ext cx="4206240" cy="393192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960120"/>
            <a:ext cx="420624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051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AUC-ROC MATTERS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What is ROC?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1673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True Positive Rate (Recall) vs False Positive Rate at every classification threshold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73168" y="20756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AUC Score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73168" y="2331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the ROC curve.  0.5 = random classifier  |  1.0 = perfect model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73168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Benchmark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2990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deepfake detection, AUC &gt; 0.95 is the target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33924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Imbalance Robust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73168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accuracy, AUC handles class imbalance naturally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4050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Threshold-Free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73168" y="4306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across all thresholds — compare models without fixing one in advance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– Equal Error Rate (EER)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deepfake detection standard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132320" y="22860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2286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007"/>
                </a:solidFill>
              </a:rPr>
              <a:t>DEEPFAKE STANDARD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8503920" cy="59436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850392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= the threshold at which  False Acceptance Rate (FAR) = False Rejection Rate (FRR)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719072"/>
            <a:ext cx="4114800" cy="22860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19072"/>
            <a:ext cx="411480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105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EER MEASURES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084832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FAR: fake audio mistakenly accepted as real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FRR: real audio mistakenly rejected as fake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= point where both error rates are equal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EER = better model (0% is perfect)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metric used in ASVspoof Challenge — the largest deepfake benchmark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719072"/>
            <a:ext cx="4114800" cy="22860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719072"/>
            <a:ext cx="411480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105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vs AUC-ROC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084832"/>
            <a:ext cx="4114800" cy="365760"/>
          </a:xfrm>
          <a:prstGeom prst="rect">
            <a:avLst/>
          </a:prstGeom>
          <a:solidFill>
            <a:srgbClr val="2E1C0E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2084832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61304" y="208483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70064" y="2084832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478024"/>
            <a:ext cx="4114800" cy="365760"/>
          </a:xfrm>
          <a:prstGeom prst="rect">
            <a:avLst/>
          </a:prstGeom>
          <a:solidFill>
            <a:srgbClr val="162536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2478024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61304" y="2478024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(best) → 50% (worst)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70064" y="2478024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(random) → 1.0 (best)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71216"/>
            <a:ext cx="4114800" cy="365760"/>
          </a:xfrm>
          <a:prstGeom prst="rect">
            <a:avLst/>
          </a:prstGeom>
          <a:solidFill>
            <a:srgbClr val="162536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2871216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Threshold?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61304" y="2871216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70064" y="2871216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264408"/>
            <a:ext cx="4114800" cy="365760"/>
          </a:xfrm>
          <a:prstGeom prst="rect">
            <a:avLst/>
          </a:prstGeom>
          <a:solidFill>
            <a:srgbClr val="162536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64024" y="3264408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Robust?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61304" y="326440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70064" y="3264408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3657600"/>
            <a:ext cx="4114800" cy="365760"/>
          </a:xfrm>
          <a:prstGeom prst="rect">
            <a:avLst/>
          </a:prstGeom>
          <a:solidFill>
            <a:srgbClr val="162536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365760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Benchmark?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61304" y="36576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(ASVspoof)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70064" y="365760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(general ML)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114800"/>
            <a:ext cx="8503920" cy="777240"/>
          </a:xfrm>
          <a:prstGeom prst="rect">
            <a:avLst/>
          </a:prstGeom>
          <a:solidFill>
            <a:srgbClr val="2E1C0E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114800"/>
            <a:ext cx="64008" cy="7772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187952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EER and AUC-ROC should be reported for deepfake detection — EER satisfies domain convention; AUC allows comparison with broader ML literature.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64008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– Summary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metrics for your reporting needs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solidFill>
            <a:srgbClr val="2E1C0E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960120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64792" y="960120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/ Basis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39312" y="96012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Needed?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02352" y="960120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Robust?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19672" y="960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Relevance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362456"/>
            <a:ext cx="8503920" cy="475488"/>
          </a:xfrm>
          <a:prstGeom prst="rect">
            <a:avLst/>
          </a:prstGeom>
          <a:solidFill>
            <a:srgbClr val="2E1C0E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62456"/>
            <a:ext cx="64008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08176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140817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(TP+TN)/Total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1408176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20640" y="140817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37960" y="14081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only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892808"/>
            <a:ext cx="8503920" cy="475488"/>
          </a:xfrm>
          <a:prstGeom prst="rect">
            <a:avLst/>
          </a:prstGeom>
          <a:solidFill>
            <a:srgbClr val="162536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892808"/>
            <a:ext cx="64008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1938528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19385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TP/(TP+FP)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0" y="1938528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193852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37960" y="193852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in fake detection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423160"/>
            <a:ext cx="8503920" cy="475488"/>
          </a:xfrm>
          <a:prstGeom prst="rect">
            <a:avLst/>
          </a:prstGeom>
          <a:solidFill>
            <a:srgbClr val="2E1C0E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423160"/>
            <a:ext cx="64008" cy="475488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46888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246888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TP/(TP+FN)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2468880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20640" y="2468880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37960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catching all fakes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2953512"/>
            <a:ext cx="8503920" cy="475488"/>
          </a:xfrm>
          <a:prstGeom prst="rect">
            <a:avLst/>
          </a:prstGeom>
          <a:solidFill>
            <a:srgbClr val="162536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953512"/>
            <a:ext cx="64008" cy="475488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2999232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783080" y="2999232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2PR/(P+R)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0" y="2999232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20640" y="2999232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2999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single metric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3483864"/>
            <a:ext cx="8503920" cy="475488"/>
          </a:xfrm>
          <a:prstGeom prst="rect">
            <a:avLst/>
          </a:prstGeom>
          <a:solidFill>
            <a:srgbClr val="2E1C0E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483864"/>
            <a:ext cx="64008" cy="47548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529584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783080" y="3529584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ROC curve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0" y="3529584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120640" y="3529584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537960" y="352958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Model-level comparison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4014216"/>
            <a:ext cx="8503920" cy="475488"/>
          </a:xfrm>
          <a:prstGeom prst="rect">
            <a:avLst/>
          </a:prstGeom>
          <a:solidFill>
            <a:srgbClr val="162536"/>
          </a:solidFill>
          <a:ln w="6350">
            <a:solidFill>
              <a:srgbClr val="3D251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014216"/>
            <a:ext cx="64008" cy="475488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059936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783080" y="405993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= FRR threshold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0" y="4059936"/>
            <a:ext cx="1252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20640" y="4059936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537960" y="405993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 speech spoofing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64515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A8C97F">
              <a:alpha val="20000"/>
            </a:srgbClr>
          </a:solidFill>
          <a:ln w="19050">
            <a:solidFill>
              <a:srgbClr val="A8C97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6451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F1-Score — Best overall metric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172968" y="464515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F2C14E">
              <a:alpha val="20000"/>
            </a:srgbClr>
          </a:solidFill>
          <a:ln w="19050">
            <a:solidFill>
              <a:srgbClr val="F2C14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72968" y="46451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AUC-ROC — Threshold-free comparison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25896" y="4645152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C94040">
              <a:alpha val="20000"/>
            </a:srgbClr>
          </a:solidFill>
          <a:ln w="19050">
            <a:solidFill>
              <a:srgbClr val="C9404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25896" y="46451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EER — Deepfake/spoofing standard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0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8503920" cy="640080"/>
          </a:xfrm>
          <a:prstGeom prst="rect">
            <a:avLst/>
          </a:prstGeom>
          <a:solidFill>
            <a:srgbClr val="2E1C0E"/>
          </a:solidFill>
          <a:ln w="12700">
            <a:solidFill>
              <a:srgbClr val="2E1C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6858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0120"/>
            <a:ext cx="850392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069848"/>
            <a:ext cx="457200" cy="457200"/>
          </a:xfrm>
          <a:prstGeom prst="ellipse">
            <a:avLst/>
          </a:prstGeom>
          <a:solidFill>
            <a:srgbClr val="E07B39">
              <a:alpha val="30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0332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3075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→ Real (0) vs Fake (1)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746504"/>
            <a:ext cx="8503920" cy="6858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46504"/>
            <a:ext cx="8503920" cy="45720"/>
          </a:xfrm>
          <a:prstGeom prst="rect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856232"/>
            <a:ext cx="457200" cy="457200"/>
          </a:xfrm>
          <a:prstGeom prst="ellipse">
            <a:avLst/>
          </a:prstGeom>
          <a:solidFill>
            <a:srgbClr val="F2C14E">
              <a:alpha val="30000"/>
            </a:srgbClr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19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2C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Loss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0939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 — standard, probabilistic, smooth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532888"/>
            <a:ext cx="8503920" cy="6858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32888"/>
            <a:ext cx="8503920" cy="45720"/>
          </a:xfrm>
          <a:prstGeom prst="rect">
            <a:avLst/>
          </a:prstGeom>
          <a:solidFill>
            <a:srgbClr val="A8C97F"/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" y="2642616"/>
            <a:ext cx="457200" cy="457200"/>
          </a:xfrm>
          <a:prstGeom prst="ellipse">
            <a:avLst/>
          </a:prstGeom>
          <a:solidFill>
            <a:srgbClr val="A8C97F">
              <a:alpha val="30000"/>
            </a:srgbClr>
          </a:solidFill>
          <a:ln w="12700">
            <a:solidFill>
              <a:srgbClr val="A8C9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9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Loss (Recommended)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28803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(γ=2, α=0.25) — handles imbalance &amp; hard examples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319272"/>
            <a:ext cx="8503920" cy="6858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319272"/>
            <a:ext cx="850392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" y="3429000"/>
            <a:ext cx="457200" cy="457200"/>
          </a:xfrm>
          <a:prstGeom prst="ellipse">
            <a:avLst/>
          </a:prstGeom>
          <a:solidFill>
            <a:srgbClr val="E07B39">
              <a:alpha val="30000"/>
            </a:srgbClr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36667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F1-Score, AUC-ROC, Equal Error Rate (EER)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4105656"/>
            <a:ext cx="8503920" cy="685800"/>
          </a:xfrm>
          <a:prstGeom prst="rect">
            <a:avLst/>
          </a:prstGeom>
          <a:solidFill>
            <a:srgbClr val="2E1C0E"/>
          </a:solidFill>
          <a:ln w="12700">
            <a:solidFill>
              <a:srgbClr val="3D251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4105656"/>
            <a:ext cx="8503920" cy="45720"/>
          </a:xfrm>
          <a:prstGeom prst="rect">
            <a:avLst/>
          </a:prstGeom>
          <a:solidFill>
            <a:srgbClr val="C94040"/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4215384"/>
            <a:ext cx="457200" cy="457200"/>
          </a:xfrm>
          <a:prstGeom prst="ellipse">
            <a:avLst/>
          </a:prstGeom>
          <a:solidFill>
            <a:srgbClr val="C94040">
              <a:alpha val="30000"/>
            </a:srgbClr>
          </a:solidFill>
          <a:ln w="12700">
            <a:solidFill>
              <a:srgbClr val="C94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🏆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1788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Benchmark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05840" y="44531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is the standard in ASVspoof challenge — always report it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92040"/>
            <a:ext cx="841248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Course Project  ·  Voice Deepfake / Synthetic Speech Detection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Functions &amp; Evaluation Metrics – Deepfake Detection</dc:title>
  <dc:subject>PptxGenJS Presentation</dc:subject>
  <dc:creator>PptxGenJS</dc:creator>
  <cp:lastModifiedBy>PptxGenJS</cp:lastModifiedBy>
  <cp:revision>1</cp:revision>
  <dcterms:created xsi:type="dcterms:W3CDTF">2026-03-29T18:40:13Z</dcterms:created>
  <dcterms:modified xsi:type="dcterms:W3CDTF">2026-03-29T18:40:13Z</dcterms:modified>
</cp:coreProperties>
</file>